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102" y="-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eya yadav" userId="b8e810d6d1c34b8c" providerId="LiveId" clId="{60271CD6-E8DD-46C5-8D2D-9FB459FAE870}"/>
    <pc:docChg chg="modSld">
      <pc:chgData name="shreya yadav" userId="b8e810d6d1c34b8c" providerId="LiveId" clId="{60271CD6-E8DD-46C5-8D2D-9FB459FAE870}" dt="2026-10-24T12:25:17.531" v="0" actId="1076"/>
      <pc:docMkLst>
        <pc:docMk/>
      </pc:docMkLst>
      <pc:sldChg chg="modSp mod">
        <pc:chgData name="shreya yadav" userId="b8e810d6d1c34b8c" providerId="LiveId" clId="{60271CD6-E8DD-46C5-8D2D-9FB459FAE870}" dt="2026-10-24T12:25:17.531" v="0" actId="1076"/>
        <pc:sldMkLst>
          <pc:docMk/>
          <pc:sldMk cId="0" sldId="269"/>
        </pc:sldMkLst>
        <pc:spChg chg="mod">
          <ac:chgData name="shreya yadav" userId="b8e810d6d1c34b8c" providerId="LiveId" clId="{60271CD6-E8DD-46C5-8D2D-9FB459FAE870}" dt="2026-10-24T12:25:17.531" v="0" actId="1076"/>
          <ac:spMkLst>
            <pc:docMk/>
            <pc:sldMk cId="0" sldId="269"/>
            <ac:spMk id="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963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394960"/>
          </a:xfrm>
          <a:prstGeom prst="rect">
            <a:avLst/>
          </a:prstGeom>
          <a:solidFill>
            <a:srgbClr val="0D1527"/>
          </a:solidFill>
          <a:ln w="381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1188720" y="1188720"/>
            <a:ext cx="3200400" cy="365760"/>
          </a:xfrm>
          <a:prstGeom prst="roundRect">
            <a:avLst>
              <a:gd name="adj" fmla="val 25000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188720" y="1188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8BDF8"/>
                </a:solidFill>
              </a:rPr>
              <a:t>ENTERPRISE SECURITY &amp; WORKFORCE SPECIFICATION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VORLDX ATTENDANCE 360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188720" y="25603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Role-Based Access Control (RBAC) &amp; Security Architecture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15-Slide Technical Blueprint for 4-Tier Enterprise Privilege Governance, Dual-Tier WFH Approval, and Dynamic Cryptographic Security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88720" y="3657600"/>
            <a:ext cx="978408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88720" y="393192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71600" y="406908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CORPORATE SPONSOR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71600" y="4343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FAFB"/>
                </a:solidFill>
              </a:rPr>
              <a:t>VorldX Industries Private Limited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4754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CIN: U62099UP2026PTC245598 • Lucknow, UP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0" y="393192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754880" y="406908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TECHNICAL ARCHITECT &amp; SPONSOR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754880" y="4343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FAFB"/>
                </a:solidFill>
              </a:rPr>
              <a:t>CTO: Muba Khan Sir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4754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Chief Technology Officer &amp; System Architect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955280" y="393192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138160" y="406908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SYSTEM INTEGRATOR &amp; DEVELOPER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138160" y="4343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FAFB"/>
                </a:solidFill>
              </a:rPr>
              <a:t>Shreyash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38160" y="47548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Lead Full-Stack Developer • B.Tech CSE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1: SECURITY STRATEGY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RBAC Vision &amp; Core Security Objectives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2697480" cy="4754880"/>
          </a:xfrm>
          <a:prstGeom prst="roundRect">
            <a:avLst>
              <a:gd name="adj" fmla="val 3390"/>
            </a:avLst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85800" y="1645920"/>
            <a:ext cx="2240280" cy="457200"/>
          </a:xfrm>
          <a:prstGeom prst="roundRect">
            <a:avLst>
              <a:gd name="adj" fmla="val 200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85800" y="1645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366F1"/>
                </a:solidFill>
              </a:rPr>
              <a:t>PILLAR 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22860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9FAFB"/>
                </a:solidFill>
              </a:rPr>
              <a:t>Principle of Least Privilege (PoLP)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10896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950" dirty="0">
                <a:solidFill>
                  <a:srgbClr val="9CA3AF"/>
                </a:solidFill>
              </a:rPr>
              <a:t>Users operate with the minimum level of access necessary to fulfill their daily duties. Eliminates accidental record modification and ghost payroll generation.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10128" y="1371600"/>
            <a:ext cx="2697480" cy="4754880"/>
          </a:xfrm>
          <a:prstGeom prst="roundRect">
            <a:avLst>
              <a:gd name="adj" fmla="val 3390"/>
            </a:avLst>
          </a:prstGeom>
          <a:solidFill>
            <a:srgbClr val="111827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538728" y="1645920"/>
            <a:ext cx="2240280" cy="457200"/>
          </a:xfrm>
          <a:prstGeom prst="roundRect">
            <a:avLst>
              <a:gd name="adj" fmla="val 200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538728" y="1645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8BDF8"/>
                </a:solidFill>
              </a:rPr>
              <a:t>PILLAR 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538728" y="22860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9FAFB"/>
                </a:solidFill>
              </a:rPr>
              <a:t>Zero-Trust Cryptographic Identity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38728" y="310896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950" dirty="0">
                <a:solidFill>
                  <a:srgbClr val="9CA3AF"/>
                </a:solidFill>
              </a:rPr>
              <a:t>No device, user, or IP address is trusted implicitly. Dynamic 45-second rotating QR tokens and device binding ensure authentic physical presence.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63056" y="1371600"/>
            <a:ext cx="2697480" cy="4754880"/>
          </a:xfrm>
          <a:prstGeom prst="roundRect">
            <a:avLst>
              <a:gd name="adj" fmla="val 3390"/>
            </a:avLst>
          </a:prstGeom>
          <a:solidFill>
            <a:srgbClr val="11182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391656" y="1645920"/>
            <a:ext cx="2240280" cy="457200"/>
          </a:xfrm>
          <a:prstGeom prst="roundRect">
            <a:avLst>
              <a:gd name="adj" fmla="val 200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391656" y="1645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PILLAR 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91656" y="22860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9FAFB"/>
                </a:solidFill>
              </a:rPr>
              <a:t>Dual-Tier Separation of Duties (SoD)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91656" y="310896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950" dirty="0">
                <a:solidFill>
                  <a:srgbClr val="9CA3AF"/>
                </a:solidFill>
              </a:rPr>
              <a:t>Prevents conflict of interest. HR Managers cannot approve their own WFH or attendance corrections; requests automatically escalate to the Super Admin/CTO.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015984" y="1371600"/>
            <a:ext cx="2697480" cy="4754880"/>
          </a:xfrm>
          <a:prstGeom prst="roundRect">
            <a:avLst>
              <a:gd name="adj" fmla="val 3390"/>
            </a:avLst>
          </a:prstGeom>
          <a:solidFill>
            <a:srgbClr val="111827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9244584" y="1645920"/>
            <a:ext cx="2240280" cy="457200"/>
          </a:xfrm>
          <a:prstGeom prst="roundRect">
            <a:avLst>
              <a:gd name="adj" fmla="val 200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9244584" y="1645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</a:rPr>
              <a:t>PILLAR 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244584" y="228600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9FAFB"/>
                </a:solidFill>
              </a:rPr>
              <a:t>Immutable Regulatory Compliance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44584" y="310896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950" dirty="0">
                <a:solidFill>
                  <a:srgbClr val="9CA3AF"/>
                </a:solidFill>
              </a:rPr>
              <a:t>Maintains comprehensive audit logs aligned with ISO/IEC 27001, SOC-2, and Indian DPDP Act standards for legal and corporate payroll auditing.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2: USER HIERARCHY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4-Tier Role-Based Access Control (RBAC) Persona Architecture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40080" y="1463040"/>
            <a:ext cx="2011680" cy="320040"/>
          </a:xfrm>
          <a:prstGeom prst="roundRect">
            <a:avLst>
              <a:gd name="adj" fmla="val 14286"/>
            </a:avLst>
          </a:prstGeom>
          <a:solidFill>
            <a:srgbClr val="1E1B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0080" y="1463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</a:rPr>
              <a:t>TIER 1 (SUPER PRIVILEGED)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40080" y="1828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Super Admin / CTO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1488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Global Organization, Infrastructure, All Modules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383280" y="141732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• Full administrative oversight across company databases
• Multi-office kiosk provisioning &amp; master QR secret keys
• Executive approval queue for HR Manager WFH requests
• Immutable system security logs &amp; budget management
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40080" y="2697480"/>
            <a:ext cx="2011680" cy="320040"/>
          </a:xfrm>
          <a:prstGeom prst="roundRect">
            <a:avLst>
              <a:gd name="adj" fmla="val 14286"/>
            </a:avLst>
          </a:prstGeom>
          <a:solidFill>
            <a:srgbClr val="1E1B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0080" y="26974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66F1"/>
                </a:solidFill>
              </a:rPr>
              <a:t>TIER 2 (MANAGEMENT PRIVILEGED)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0080" y="3063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HR Manager / People Ops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16 HR Modules, Employee Directory, Payroll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383280" y="265176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• Complete workforce directory, profiling &amp; status management
• Manual punch regularization &amp; biometric anomaly resolution
• Staff leave &amp; WFH request review &amp; approval processing
• One-click monthly payroll batch calculation &amp; slip release
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40080" y="3931920"/>
            <a:ext cx="2011680" cy="320040"/>
          </a:xfrm>
          <a:prstGeom prst="roundRect">
            <a:avLst>
              <a:gd name="adj" fmla="val 14286"/>
            </a:avLst>
          </a:prstGeom>
          <a:solidFill>
            <a:srgbClr val="1E1B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</a:rPr>
              <a:t>TIER 3 (OPERATIONAL PRIVILEGED)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40080" y="42976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Department Head / Lead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Departmental Scope (Engineering, Sales, etc.)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383280" y="3886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• Team attendance tracking &amp; daily on-duty headcount
• Shift schedule planning &amp; rotational roster management
• First-line review for departmental leave &amp; WFH applications
• Quarterly KPI objective evaluations &amp; progress reports
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640080" y="5166360"/>
            <a:ext cx="2011680" cy="320040"/>
          </a:xfrm>
          <a:prstGeom prst="roundRect">
            <a:avLst>
              <a:gd name="adj" fmla="val 14286"/>
            </a:avLst>
          </a:prstGeom>
          <a:solidFill>
            <a:srgbClr val="1E1B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40080" y="5166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B981"/>
                </a:solidFill>
              </a:rPr>
              <a:t>TIER 4 (BASIC PRIVILEGED)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40080" y="5532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General Employee / Staff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8521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Own Data Only (Confidential Isolation)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383280" y="512064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• Dynamic QR scanning for instantaneous Punch In / Punch Out
• Persistent check-in badge &amp; monthly calendar attendance log
• Self-service Leave &amp; WFH application submission
• Confidential salary slip PDF download &amp; Helpdesk tickets
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3: PRIVILEGE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1: Super Admin / CTO Deep Dive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57600" cy="4754880"/>
          </a:xfrm>
          <a:prstGeom prst="roundRect">
            <a:avLst>
              <a:gd name="adj" fmla="val 2500"/>
            </a:avLst>
          </a:prstGeom>
          <a:solidFill>
            <a:srgbClr val="111827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</a:rPr>
              <a:t>EXECUTIVE ARCHITECT PROFILE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1920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CTO: Muba Khan Sir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</a:rPr>
              <a:t>Chief Technology Officer &amp; System Architect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</a:rPr>
              <a:t>VorldX Industries Private Limited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310896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31520" y="32004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8BDF8"/>
                </a:solidFill>
              </a:rPr>
              <a:t>GOVERNANCE PROFILE ATTRIBUTES: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1520" y="347472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✔  Access Level: Root System Administrator (Tier 1)
✔  Authentication: Multi-Factor SSO + Master Credential
✔  Session Timeout: 15 Minutes Inactivity Shield
✔  Scope: Global Infrastructure &amp; Multi-Branch Kiosks
✔  Audit Tracking: Direct Hardware Event Journaling
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97680" y="1371600"/>
            <a:ext cx="7434072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</a:rPr>
              <a:t>EXCLUSIVE ADMINISTRATIVE CAPABILITIES &amp; WORKFLOWS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0" y="2011680"/>
            <a:ext cx="688543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754880" y="2103120"/>
            <a:ext cx="6492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</a:rPr>
              <a:t>1. Multi-Office Kiosk &amp; Hardware Provisioning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235915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Provision entrance kiosk displays, generate cryptographic salt keys, configure 45-second refresh frequency, and monitor hardware heartbeat.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0" y="2971800"/>
            <a:ext cx="688543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754880" y="3063240"/>
            <a:ext cx="6492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</a:rPr>
              <a:t>2. Executive WFH Escalation Queue (Zero Conflict of Interest)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331927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Dedicated review queue where HR Manager remote work applications land. Guarantees organizational checks and balances.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3931920"/>
            <a:ext cx="688543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6492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</a:rPr>
              <a:t>3. Master Relational Database &amp; Failover Administration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427939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Govern Microsoft SQL Server 2022 enterprise schema, database failover triggers, SQLite WAL offline caching, and seed scripts.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0" y="4892040"/>
            <a:ext cx="688543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754880" y="4983480"/>
            <a:ext cx="6492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</a:rPr>
              <a:t>4. Enterprise Audit Trail &amp; Forensic Security Log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523951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Access immutable logs recording every punch override, role elevation, salary slip export, and security token invalidation.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4: PEOPLE OPERATIONS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2: HR Manager / OfficeNova Administration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508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</a:rPr>
              <a:t>OFFICENOVA HR MANAGEMENT SUITE (16 INTEGRATED MODULES)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783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FAFB"/>
                </a:solidFill>
              </a:rPr>
              <a:t>HR Managers possess comprehensive administrative jurisdiction over workforce records, attendance regularization, staff leave queues, and monthly payroll computation.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</a:rPr>
              <a:t>MODULES 1 &amp; 2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40080" y="29260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Workforce Lifecycle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337560"/>
            <a:ext cx="233172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•  HR Executive Dashboard real-time KPIs
•  Staff onboarding &amp; profile management
•  Designations, departments &amp; shift mapping
•  Employee termination &amp; offboarding logs
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310128" y="256032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93008" y="269748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</a:rPr>
              <a:t>MODULES 3, 4 &amp; 5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493008" y="29260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Attendance Governance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93008" y="3337560"/>
            <a:ext cx="233172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493008" y="347472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•  Daily punch monitoring &amp; biometric flags
•  Manual punch regularization approval
•  Leave balance allocation &amp; entitlement
•  Staff WFH application review &amp; approval
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63056" y="256032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345936" y="269748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</a:rPr>
              <a:t>MODULES 10, 11 &amp; 13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345936" y="29260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Payroll &amp; Compliance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45936" y="3337560"/>
            <a:ext cx="233172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345936" y="347472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•  Automated Net Salary = Basic + Allow - Ded
•  One-click PDF payslip batch generator
•  Company policy repository &amp; NDA vaults
•  Clustered department attendance analytics
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015984" y="256032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9198864" y="269748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38BDF8"/>
                </a:solidFill>
              </a:rPr>
              <a:t>MODULES 7, 8, 9 &amp; 12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9198864" y="29260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Operations &amp; Talent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98864" y="3337560"/>
            <a:ext cx="233172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9198864" y="3474720"/>
            <a:ext cx="2331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•  Recruitment pipeline &amp; candidate stage
•  Quarterly KPI reviews &amp; OKR tracking
•  Corporate training curricula &amp; enrollments
•  Broadcast company notices &amp; bulletins
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5: OPERATIONAL OVERSIGHT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3: Department Head / Team Lead Deep Dive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5303520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DEPARTMENTAL SCOPE &amp; BOUNDARIES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Strict Departmental Isolation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</a:rPr>
              <a:t>Department Heads (e.g. Engineering Lead, Marketing Director) have operational oversight strictly limited to employees mapped to their department ID.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4754880" cy="777240"/>
          </a:xfrm>
          <a:prstGeom prst="roundRect">
            <a:avLst>
              <a:gd name="adj" fmla="val 5882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8BDF8"/>
                </a:solidFill>
              </a:rPr>
              <a:t>Visible Data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Team attendance, daily punch logs, shift schedules, OKRs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4754880" cy="777240"/>
          </a:xfrm>
          <a:prstGeom prst="roundRect">
            <a:avLst>
              <a:gd name="adj" fmla="val 5882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411480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8BDF8"/>
                </a:solidFill>
              </a:rPr>
              <a:t>Hidden Data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14400" y="4343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Confidential salary details, bank info, other departments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1520" y="4937760"/>
            <a:ext cx="4754880" cy="777240"/>
          </a:xfrm>
          <a:prstGeom prst="roundRect">
            <a:avLst>
              <a:gd name="adj" fmla="val 5882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914400" y="502920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8BDF8"/>
                </a:solidFill>
              </a:rPr>
              <a:t>Approval Level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14400" y="52578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Tier-1 Recommendation (Passes to HR for payroll sign-off)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035040" y="1371600"/>
            <a:ext cx="5696712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309360" y="1645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366F1"/>
                </a:solidFill>
              </a:rPr>
              <a:t>CORE WORKFLOWS MANAGED BY DEPARTMENT HEADS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9360" y="2057400"/>
            <a:ext cx="514807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492240" y="21488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Shift Rostering &amp; Rotational Planning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92240" y="240487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Assign team members to General (09:00 - 18:00), Morning (07:00 - 16:00), or Evening (14:00 - 23:00) shifts based on project deadlines.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0" y="3017520"/>
            <a:ext cx="514807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6492240" y="31089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Daily Desk Availability Monitoring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92240" y="336499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Real-time dashboard showing who is In-Office, on Work-From-Home (WFH), on Approved Leave, or Late-Marked.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3977640"/>
            <a:ext cx="514807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Performance &amp; KPI Reviews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492240" y="432511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Evaluate team members quarterly against measurable key results (OKRs) and submit appraisal ratings to HR.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09360" y="4937760"/>
            <a:ext cx="514807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492240" y="50292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</a:rPr>
              <a:t>Escalation &amp; Anomaly Flagging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92240" y="52852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Flag suspicious biometric anomalies or repeated unexcused absences directly to the HR Manager queue.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6: FIELD &amp; STAFF EXPERIENCE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4: General Employee / Mobile APK Self-Service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840480" cy="4754880"/>
          </a:xfrm>
          <a:prstGeom prst="roundRect">
            <a:avLst>
              <a:gd name="adj" fmla="val 2381"/>
            </a:avLst>
          </a:prstGeom>
          <a:solidFill>
            <a:srgbClr val="111827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B981"/>
                </a:solidFill>
              </a:rPr>
              <a:t>NATIVE ANDROID APK (CAPACITOR 8)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1520" y="19202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1.2 MB Ultra-Optimized Mobile Client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Engineered with Android Studio Ladybug, Gradle 8.2, and ProGuard R8 code shrinking for instant installation on any staff smartphone.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3200400"/>
            <a:ext cx="329184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68680" y="3273552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Download APK Size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68680" y="345643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FAFB"/>
                </a:solidFill>
              </a:rPr>
              <a:t>1.24 MB (Sub-2MB SLA)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329184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68680" y="393192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QR Scan Latency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68680" y="411480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FAFB"/>
                </a:solidFill>
              </a:rPr>
              <a:t>&lt; 280 ms Hardware Decode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" y="4517136"/>
            <a:ext cx="329184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868680" y="4590288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Offline Punch Storage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868680" y="47731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FAFB"/>
                </a:solidFill>
              </a:rPr>
              <a:t>Persisted in LocalStorage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5175504"/>
            <a:ext cx="329184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868680" y="5248656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8BDF8"/>
                </a:solidFill>
              </a:rPr>
              <a:t>Battery Consumption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68680" y="543153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FAFB"/>
                </a:solidFill>
              </a:rPr>
              <a:t>&lt; 0.3% per 8-hour shift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0" y="1371600"/>
            <a:ext cx="7159752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46320" y="164592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366F1"/>
                </a:solidFill>
              </a:rPr>
              <a:t>EMPLOYEE SELF-SERVICE CAPABILITIES &amp; WORKFLOWS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011680"/>
            <a:ext cx="661111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029200" y="2103120"/>
            <a:ext cx="6217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1. Instant Dynamic QR Punch In / Punch Out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0" y="235915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Employee scans the kiosk dynamic QR using their phone camera. The punch timestamp and date badge display immediately and remain permanently visible on the app.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46320" y="2971800"/>
            <a:ext cx="661111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029200" y="3063240"/>
            <a:ext cx="6217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2. Personal Attendance History &amp; Material Calendar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0" y="331927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Color-coded monthly calendar view showing Present (Green), Late (Amber), WFH (Blue), and Leave (Purple) status with working hours tally.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846320" y="3931920"/>
            <a:ext cx="661111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5029200" y="4023360"/>
            <a:ext cx="6217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3. Digital Leave &amp; Work-From-Home (WFH) Applications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29200" y="427939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Apply for medical/casual leave or remote work with reasons and date pickers. Track review status (Pending, Approved, Rejected) in real time.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846320" y="4892040"/>
            <a:ext cx="661111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029200" y="4983480"/>
            <a:ext cx="6217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</a:rPr>
              <a:t>4. Confidential Salary Slip PDF Download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0" y="5239512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Access verified monthly payslips with detailed breakdown of Basic Pay, Allowances, PF/TDS deductions, and Net Salary without visiting HR.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7: MACHINE &amp; HARDWARE SECURITY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Agent: Autonomous Dynamic QR Kiosk Terminal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85800" y="1645920"/>
            <a:ext cx="2240280" cy="411480"/>
          </a:xfrm>
          <a:prstGeom prst="roundRect">
            <a:avLst>
              <a:gd name="adj" fmla="val 17778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85800" y="164592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8BDF8"/>
                </a:solidFill>
              </a:rPr>
              <a:t>SECURITY PROTOCOL 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22402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Cryptographic HMAC Token Rotation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063240"/>
            <a:ext cx="22402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Generates a time-synchronized SHA-256 HMAC token that expires precisely every 45 seconds. Makes photo sharing and proxy punching impossible.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10128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538728" y="1645920"/>
            <a:ext cx="2240280" cy="411480"/>
          </a:xfrm>
          <a:prstGeom prst="roundRect">
            <a:avLst>
              <a:gd name="adj" fmla="val 17778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538728" y="164592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366F1"/>
                </a:solidFill>
              </a:rPr>
              <a:t>SECURITY PROTOCOL 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38728" y="22402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Visual Circular Countdown Meter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38728" y="3063240"/>
            <a:ext cx="22402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Real-time countdown display with radial progress indicator giving employees visual cue before token rotates to the next cryptographic state.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63056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391656" y="1645920"/>
            <a:ext cx="2240280" cy="411480"/>
          </a:xfrm>
          <a:prstGeom prst="roundRect">
            <a:avLst>
              <a:gd name="adj" fmla="val 17778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391656" y="164592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</a:rPr>
              <a:t>SECURITY PROTOCOL 03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391656" y="22402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Zero-Credential Local Storage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91656" y="3063240"/>
            <a:ext cx="22402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The kiosk terminal stores zero employee passwords or biometrics. Pure display projection node — even physical kiosk theft reveals zero user data.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15984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9244584" y="1645920"/>
            <a:ext cx="2240280" cy="411480"/>
          </a:xfrm>
          <a:prstGeom prst="roundRect">
            <a:avLst>
              <a:gd name="adj" fmla="val 17778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9244584" y="164592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0B981"/>
                </a:solidFill>
              </a:rPr>
              <a:t>SECURITY PROTOCOL 04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9244584" y="22402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Autonomous Offline Recovery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244584" y="3063240"/>
            <a:ext cx="22402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If corporate internet drops temporarily, the kiosk continues generating synchronized tokens based on its local hardware RTC clock.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8: PROCESS GOVERNANCE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Dual-Tier Hierarchical WFH &amp; Leave Approval Workflow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11274552" cy="2240280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508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</a:rPr>
              <a:t>FLOW A: GENERAL EMPLOYEE WORK-FROM-HOME (WFH) APPLICATION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1874520"/>
            <a:ext cx="2514600" cy="1508760"/>
          </a:xfrm>
          <a:prstGeom prst="roundRect">
            <a:avLst>
              <a:gd name="adj" fmla="val 3030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68680" y="19659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366F1"/>
                </a:solidFill>
              </a:rPr>
              <a:t>1. Application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21945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Employee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Applies via Mobile APK with date &amp; justification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429000" y="1874520"/>
            <a:ext cx="2514600" cy="1508760"/>
          </a:xfrm>
          <a:prstGeom prst="roundRect">
            <a:avLst>
              <a:gd name="adj" fmla="val 3030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566160" y="19659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366F1"/>
                </a:solidFill>
              </a:rPr>
              <a:t>2. Review Queue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566160" y="21945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HR Manager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66160" y="24688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Lands in OfficeNova HR Portal Module 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26480" y="1874520"/>
            <a:ext cx="2514600" cy="1508760"/>
          </a:xfrm>
          <a:prstGeom prst="roundRect">
            <a:avLst>
              <a:gd name="adj" fmla="val 3030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263640" y="19659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366F1"/>
                </a:solidFill>
              </a:rPr>
              <a:t>3. Adjudication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21945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HR Action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63640" y="24688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Approves / Rejects based on leave entitlement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823960" y="1874520"/>
            <a:ext cx="2514600" cy="1508760"/>
          </a:xfrm>
          <a:prstGeom prst="roundRect">
            <a:avLst>
              <a:gd name="adj" fmla="val 3030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8961120" y="19659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366F1"/>
                </a:solidFill>
              </a:rPr>
              <a:t>4. Sync &amp; Punch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0" y="21945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System Output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961120" y="24688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Attendance marked WFH; pushes push alert to APK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11274552" cy="22860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31520" y="3977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</a:rPr>
              <a:t>FLOW B: HR MANAGER WFH APPLICATION (AUTOMATIC CTO ESCALATION)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" y="4343400"/>
            <a:ext cx="2514600" cy="1554480"/>
          </a:xfrm>
          <a:prstGeom prst="roundRect">
            <a:avLst>
              <a:gd name="adj" fmla="val 294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68680" y="44348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</a:rPr>
              <a:t>1. HR Application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68680" y="46634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HR Manager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68680" y="493776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Applies through OfficeNova WFH request portal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29000" y="4343400"/>
            <a:ext cx="2514600" cy="1554480"/>
          </a:xfrm>
          <a:prstGeom prst="roundRect">
            <a:avLst>
              <a:gd name="adj" fmla="val 294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3566160" y="44348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</a:rPr>
              <a:t>2. Conflict Guard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566160" y="46634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System Rule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566160" y="493776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Self-approval blocked; routed away from HR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126480" y="4343400"/>
            <a:ext cx="2514600" cy="1554480"/>
          </a:xfrm>
          <a:prstGeom prst="roundRect">
            <a:avLst>
              <a:gd name="adj" fmla="val 294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263640" y="44348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</a:rPr>
              <a:t>3. CTO Queue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263640" y="46634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CTO: Muba Khan Sir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263640" y="493776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Lands in Super Admin Executive Approval Desk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823960" y="4343400"/>
            <a:ext cx="2514600" cy="1554480"/>
          </a:xfrm>
          <a:prstGeom prst="roundRect">
            <a:avLst>
              <a:gd name="adj" fmla="val 294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8961120" y="44348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</a:rPr>
              <a:t>4. Executive Sign-Off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961120" y="46634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Final Decision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961120" y="493776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Approved / Rejected with immutable audit log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9: ACCESS RIGHTS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Role-Based Access Control (RBAC) Permission Matrix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475488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System Resource / Entity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</a:rPr>
                        <a:t>Super Admin / CTO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6366F1"/>
                          </a:solidFill>
                        </a:rPr>
                        <a:t>HR Manager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59E0B"/>
                          </a:solidFill>
                        </a:rPr>
                        <a:t>Department Head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General Employee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Employee Profiles &amp; Onboarding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Full (CRUD)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Full (CRUD)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Read Only (Team)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Read Own Only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Daily Attendance &amp; Punch Logs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Full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Full (Regularize)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Read Team Logs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Create (Scan) / Read Own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Staff Leave &amp; WFH Requests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Approve / Override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Approve / Reject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Review &amp; Recommend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Create / Read Own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HR Manager WFH Requests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Sole Approver (CTO)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Create Only (No Self-Approve)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No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No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Payroll Calculation &amp; Slips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Audit &amp; Approve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Generate &amp; Manage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No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Read Own Payslip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Company Policies &amp; Handbooks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Publish &amp; Revoke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Upload &amp; Manage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Read Only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Read &amp; Download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Broadcast Bulletins &amp; Notices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Global Broadcast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Create &amp; Publish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Department Notices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Read Only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Hardware Kiosks &amp; Secret Keys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Full Provisioning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Monitor Health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No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No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Immutable Security Audit Logs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Full Forensic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HR Audit Logs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No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F9FAFB"/>
                          </a:solidFill>
                        </a:rPr>
                        <a:t>No Access</a:t>
                      </a:r>
                      <a:endParaRPr lang="en-US" sz="850" dirty="0"/>
                    </a:p>
                  </a:txBody>
                  <a:tcPr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10: DATA ISOLATION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Privacy, Row-Level &amp; Field-Level Access Control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39312" cy="4754880"/>
          </a:xfrm>
          <a:prstGeom prst="roundRect">
            <a:avLst>
              <a:gd name="adj" fmla="val 2513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8BDF8"/>
                </a:solidFill>
              </a:rPr>
              <a:t>HORIZONTAL ISOLATION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1520" y="19202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1. Row-Level Security (RLS)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Database queries enforce WHERE clauses dynamically based on caller role. An employee querying attendance only retrieves rows matching their employee_id.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3657600"/>
            <a:ext cx="310896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31520" y="3840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</a:rPr>
              <a:t>SECURITY IMPLEMENTATION: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411480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✔  Employee: WHERE emp_id = :sessionEmpId
✔  Dept Head: WHERE dept_id = :sessionDeptId
✔  HR / CTO: Global UNFILTERED access
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79392" y="1371600"/>
            <a:ext cx="3639312" cy="4754880"/>
          </a:xfrm>
          <a:prstGeom prst="roundRect">
            <a:avLst>
              <a:gd name="adj" fmla="val 2513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53712" y="1645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8BDF8"/>
                </a:solidFill>
              </a:rPr>
              <a:t>VERTICAL FIELD MASKING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553712" y="19202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2. Column-Level Security (CLS)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53712" y="25603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Sensitive financial and PII columns are stripped at the API Gateway layer before serializing JSON responses to non-HR roles.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53712" y="3657600"/>
            <a:ext cx="310896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553712" y="3840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</a:rPr>
              <a:t>SECURITY IMPLEMENTATION: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53712" y="411480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✔  Basic Salary, PF &amp; Net Pay hidden from peers
✔  Aadhaar / PAN masked with SHA-256 salt
✔  Personal medical notes hidden from Leads
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101584" y="1371600"/>
            <a:ext cx="3639312" cy="4754880"/>
          </a:xfrm>
          <a:prstGeom prst="roundRect">
            <a:avLst>
              <a:gd name="adj" fmla="val 2513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8375904" y="1645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8BDF8"/>
                </a:solidFill>
              </a:rPr>
              <a:t>DATABASE ENCRYPTION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375904" y="19202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3. Cryptographic Storage &amp; Salting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75904" y="25603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Passwords hashed with bcrypt (cost factor 12). QR kiosk seeds encrypted with AES-256-GCM. Hardware tamper tokens verified on each punch.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375904" y="3657600"/>
            <a:ext cx="310896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8375904" y="3840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</a:rPr>
              <a:t>SECURITY IMPLEMENTATION: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375904" y="411480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✔  Zero plaintext password retention
✔  Dynamic rotating HMAC keys
✔  SQL injection sanitized parameterized queries
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11: CRYPTOGRAPHIC AUTHENTICATION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Role-Aware JWT Token Lifecycle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85800" y="1645920"/>
            <a:ext cx="2240280" cy="36576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85800" y="16459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366F1"/>
                </a:solidFill>
              </a:rPr>
              <a:t>PHASE 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Role-Based Authentication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017520"/>
            <a:ext cx="2240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User logs in via Employee ID / HR Email / Admin SSO. Server verifies credentials, queries role hierarchy, and issues signed JWT.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10128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3538728" y="1645920"/>
            <a:ext cx="2240280" cy="36576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538728" y="16459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8BDF8"/>
                </a:solidFill>
              </a:rPr>
              <a:t>PHASE 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38728" y="21945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Token Payload Signing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38728" y="3017520"/>
            <a:ext cx="2240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JWT payload embeds { empId, role, deptId, permissions, exp }. Signed using SHA-256 HMAC with secret rotation every 24 hours.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63056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391656" y="1645920"/>
            <a:ext cx="2240280" cy="36576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391656" y="16459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PHASE 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91656" y="21945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Middleware Route Guards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91656" y="3017520"/>
            <a:ext cx="2240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Express.js middleware `requireRole(["admin", "hr"])` inspects JWT header before routing request to sensitive HR/Admin endpoints.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15984" y="1371600"/>
            <a:ext cx="2697480" cy="4754880"/>
          </a:xfrm>
          <a:prstGeom prst="roundRect">
            <a:avLst>
              <a:gd name="adj" fmla="val 2712"/>
            </a:avLst>
          </a:prstGeom>
          <a:solidFill>
            <a:srgbClr val="111827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9244584" y="1645920"/>
            <a:ext cx="2240280" cy="36576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9244584" y="164592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</a:rPr>
              <a:t>PHASE 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244584" y="219456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Rolling Expiration &amp; Revocation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244584" y="3017520"/>
            <a:ext cx="2240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900" dirty="0">
                <a:solidFill>
                  <a:srgbClr val="9CA3AF"/>
                </a:solidFill>
              </a:rPr>
              <a:t>15-minute access token lifespan. Refresh tokens stored in HttpOnly secure cookies. Immediate revocation upon password change or logout.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12: FORENSIC AUDITING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 &amp; Regulatory Compliance Framework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</a:rPr>
              <a:t>FORENSIC AUDIT RECORD SCHEMA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057400"/>
            <a:ext cx="493776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213055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Audit ID &amp; Timestamp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31343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High-precision microsecond UTC timestamp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" y="2715768"/>
            <a:ext cx="493776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Actor Identity &amp; Role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718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User ID, Email, Role, Department ID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31520" y="3374136"/>
            <a:ext cx="493776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344728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Action Type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36301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PUNCH_CREATE, LEAVE_APPROVE, WFH_ESCALATE, PAYROLL_RUN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4032504"/>
            <a:ext cx="493776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4105656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IP Address &amp; Location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914400" y="428853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Client public IP, geofence coordinates, network ISP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1520" y="4690872"/>
            <a:ext cx="493776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914400" y="476402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Device Fingerprint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4400" y="494690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Capacitor Android hardware ID &amp; browser agent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1520" y="5349240"/>
            <a:ext cx="4937760" cy="566928"/>
          </a:xfrm>
          <a:prstGeom prst="roundRect">
            <a:avLst>
              <a:gd name="adj" fmla="val 8065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914400" y="542239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366F1"/>
                </a:solidFill>
              </a:rPr>
              <a:t>Before / After Delta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14400" y="560527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JSON payload capturing changed record values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17920" y="1371600"/>
            <a:ext cx="5513832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492240" y="1645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</a:rPr>
              <a:t>STANDARDS &amp; REGULATORY COMPLIANCE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92240" y="2057400"/>
            <a:ext cx="496519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675120" y="21488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ISO/IEC 27001:2022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675120" y="240487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Strict controls on user access management (A.9.2), privilege allocation (A.9.2.3), and event logging (A.12.4).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92240" y="3017520"/>
            <a:ext cx="496519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675120" y="3108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SOC-2 Type II Trust Principles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675120" y="33649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Security, availability, and confidentiality verified through continuous logging and dual-custody approval workflows.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492240" y="3977640"/>
            <a:ext cx="496519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675120" y="40690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Indian DPDP Act 2023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675120" y="432511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Employee biometric and location data processed lawfully with informed consent, localized storage, and privacy shielding.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492240" y="4937760"/>
            <a:ext cx="4965192" cy="868680"/>
          </a:xfrm>
          <a:prstGeom prst="roundRect">
            <a:avLst>
              <a:gd name="adj" fmla="val 8421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675120" y="50292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Statutory Labor Laws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675120" y="52852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</a:rPr>
              <a:t>Exact working hour logs and overtime records comply with Indian Factories &amp; Commercial Establishment Acts.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13: THREAT MODELING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Threat Scenarios &amp; RBAC Defense Mitigations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4356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Threat 1: Buddy Punching / Photo Sharing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509760" y="1463040"/>
            <a:ext cx="1920240" cy="320040"/>
          </a:xfrm>
          <a:prstGeom prst="roundRect">
            <a:avLst>
              <a:gd name="adj" fmla="val 14286"/>
            </a:avLst>
          </a:prstGeom>
          <a:solidFill>
            <a:srgbClr val="064E3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509760" y="14630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4D399"/>
                </a:solidFill>
              </a:rPr>
              <a:t>BLOCKED (100%)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170992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87171"/>
                </a:solidFill>
              </a:rPr>
              <a:t>Attack Vector: Employee takes a smartphone picture of the QR kiosk and sends it via WhatsApp to an absent colleague at home.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" y="203911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4D399"/>
                </a:solidFill>
              </a:rPr>
              <a:t>RBAC Defense: Mitigated: The 45-second HMAC token expires before it can be relayed. Reverse geofencing confirms physical presence.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31520" y="267004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Threat 2: HR Self-Approval Conflict of Interest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697480"/>
            <a:ext cx="1920240" cy="320040"/>
          </a:xfrm>
          <a:prstGeom prst="roundRect">
            <a:avLst>
              <a:gd name="adj" fmla="val 14286"/>
            </a:avLst>
          </a:prstGeom>
          <a:solidFill>
            <a:srgbClr val="064E3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50976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4D399"/>
                </a:solidFill>
              </a:rPr>
              <a:t>BLOCKED (100%)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31520" y="294436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87171"/>
                </a:solidFill>
              </a:rPr>
              <a:t>Attack Vector: HR Manager attempts to approve their own Work-From-Home application or mark false attendance days to earn bonus leave.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1520" y="327355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4D399"/>
                </a:solidFill>
              </a:rPr>
              <a:t>RBAC Defense: Mitigated: Dual-tier approval logic automatically reroutes HR applications to the CTO / Super Admin review desk.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31520" y="39044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Threat 3: Unauthorized Salary Snooping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52560" y="4039145"/>
            <a:ext cx="1920240" cy="320040"/>
          </a:xfrm>
          <a:prstGeom prst="roundRect">
            <a:avLst>
              <a:gd name="adj" fmla="val 14286"/>
            </a:avLst>
          </a:prstGeom>
          <a:solidFill>
            <a:srgbClr val="064E3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9509760" y="39319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4D399"/>
                </a:solidFill>
              </a:rPr>
              <a:t>BLOCKED (100%)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31520" y="417880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87171"/>
                </a:solidFill>
              </a:rPr>
              <a:t>Attack Vector: A Team Lead or general staff member attempts to inspect colleagues salary slips by calling `/api/payroll` directly.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31520" y="450799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4D399"/>
                </a:solidFill>
              </a:rPr>
              <a:t>RBAC Defense: Mitigated: JWT route guard rejects request with 403 Forbidden. Database Column-Level Security suppresses salary fields.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6400"/>
            </a:avLst>
          </a:prstGeom>
          <a:solidFill>
            <a:srgbClr val="111827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31520" y="513892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Threat 4: Session Hijacking &amp; Token Replay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509760" y="5166360"/>
            <a:ext cx="1920240" cy="320040"/>
          </a:xfrm>
          <a:prstGeom prst="roundRect">
            <a:avLst>
              <a:gd name="adj" fmla="val 14286"/>
            </a:avLst>
          </a:prstGeom>
          <a:solidFill>
            <a:srgbClr val="064E3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9509760" y="5166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4D399"/>
                </a:solidFill>
              </a:rPr>
              <a:t>BLOCKED (100%)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31520" y="541324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87171"/>
                </a:solidFill>
              </a:rPr>
              <a:t>Attack Vector: Malicious actor captures an expired attendance request payload and attempts to replay it against the server.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31520" y="574243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4D399"/>
                </a:solidFill>
              </a:rPr>
              <a:t>RBAC Defense: Mitigated: Server validates timestamp freshness (&amp;le;45s) and rejects duplicate punch submissions using idempotency keys.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solidFill>
            <a:srgbClr val="111827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14: CONCLUSION &amp; SIGN-OFF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Future RBAC Roadmap &amp; Project Approval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424160" y="502920"/>
            <a:ext cx="109728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424160" y="502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15/15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ATTENDANCE 360  |  OFFICENOVA HR PORTAL  |  CTO: MUBA KHAN SIR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4652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VORLDX INDUSTRIES PVT LTD - LUCKNOW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5303520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31520" y="16459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</a:rPr>
              <a:t>CORE MILESTONES ACHIEVED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057400"/>
            <a:ext cx="4754880" cy="548640"/>
          </a:xfrm>
          <a:prstGeom prst="roundRect">
            <a:avLst>
              <a:gd name="adj" fmla="val 8333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68680" y="21488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✔  Complete 4-tier Role-Based Access Control matrix operationalized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2697480"/>
            <a:ext cx="4754880" cy="548640"/>
          </a:xfrm>
          <a:prstGeom prst="roundRect">
            <a:avLst>
              <a:gd name="adj" fmla="val 8333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✔  Dual-tier WFH approval workflow eliminates self-approval fraud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3337560"/>
            <a:ext cx="4754880" cy="548640"/>
          </a:xfrm>
          <a:prstGeom prst="roundRect">
            <a:avLst>
              <a:gd name="adj" fmla="val 8333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3429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✔  45-second dynamic cryptographic QR tokens eradicate buddy punching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31520" y="3977640"/>
            <a:ext cx="4754880" cy="548640"/>
          </a:xfrm>
          <a:prstGeom prst="roundRect">
            <a:avLst>
              <a:gd name="adj" fmla="val 8333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68680" y="40690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✔  16-module OfficeNova HR Portal provides unified workforce governance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1520" y="4617720"/>
            <a:ext cx="4754880" cy="548640"/>
          </a:xfrm>
          <a:prstGeom prst="roundRect">
            <a:avLst>
              <a:gd name="adj" fmla="val 8333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868680" y="47091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✔  Native Android APK optimized down to 1.2 MB footprint via ProGuard R8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31520" y="5257800"/>
            <a:ext cx="4754880" cy="548640"/>
          </a:xfrm>
          <a:prstGeom prst="roundRect">
            <a:avLst>
              <a:gd name="adj" fmla="val 8333"/>
            </a:avLst>
          </a:prstGeom>
          <a:solidFill>
            <a:srgbClr val="0D152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868680" y="5349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FAFB"/>
                </a:solidFill>
              </a:rPr>
              <a:t>✔  Dual database engine: Production MSSQL 2022 + Local SQLite 3 WAL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1371600"/>
            <a:ext cx="5696712" cy="4754880"/>
          </a:xfrm>
          <a:prstGeom prst="roundRect">
            <a:avLst>
              <a:gd name="adj" fmla="val 1923"/>
            </a:avLst>
          </a:prstGeom>
          <a:solidFill>
            <a:srgbClr val="111827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309360" y="1645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366F1"/>
                </a:solidFill>
              </a:rPr>
              <a:t>FUTURE RBAC ROADMAP &amp; OFFICIAL SIGN-OFF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09360" y="2011680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</a:rPr>
              <a:t>• Attribute-Based Access Control (ABAC): Dynamic contextual trust based on Wi-Fi SSID, device posture, and battery level.
• Edge AI Facial Biometrics: TensorFlow.js face landmark detection during QR scanning for secondary verification.
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3200400"/>
            <a:ext cx="51206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309360" y="338328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38BDF8"/>
                </a:solidFill>
              </a:rPr>
              <a:t>PROJECT APPROVAL &amp; EXECUTIVE SIGN-OFF: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3657600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850" dirty="0">
                <a:solidFill>
                  <a:srgbClr val="F9FAFB"/>
                </a:solidFill>
              </a:rPr>
              <a:t>✔  Corporate Sponsor: VORLDX INDUSTRIES PRIVATE LIMITED (CIN: U62099UP2026PTC245598)
✔  Technical Head: CTO: Muba Khan Sir (Chief Technology Officer &amp; System Architect)
✔  Lead Developer: Shreyash (B.Tech Computer Science &amp; Engineering)
✔  Academic Status: 100% Verified, Built &amp; Production Released (v2.0)
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2965</Words>
  <Application>Microsoft Office PowerPoint</Application>
  <PresentationFormat>On-screen Show (16:9)</PresentationFormat>
  <Paragraphs>357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VORLDX INDUSTRIES PRIVATE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VorldX Attendance 360 - Role-Based Access Control (RBAC) Architecture</dc:title>
  <dc:subject>Enterprise Workforce Governance &amp; RBAC Presentation (15 Slides)</dc:subject>
  <dc:creator>Shreyash - Lead Full-Stack Developer</dc:creator>
  <cp:lastModifiedBy>shreya yadav</cp:lastModifiedBy>
  <cp:revision>1</cp:revision>
  <dcterms:created xsi:type="dcterms:W3CDTF">2026-10-24T12:19:21Z</dcterms:created>
  <dcterms:modified xsi:type="dcterms:W3CDTF">2026-10-24T12:25:26Z</dcterms:modified>
</cp:coreProperties>
</file>