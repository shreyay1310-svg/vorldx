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5912" cy="5394960"/>
          </a:xfrm>
          <a:prstGeom prst="rect">
            <a:avLst/>
          </a:prstGeom>
          <a:solidFill>
            <a:srgbClr val="0D1527"/>
          </a:solidFill>
          <a:ln w="381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1188720"/>
            <a:ext cx="3200400" cy="365760"/>
          </a:xfrm>
          <a:prstGeom prst="roundRect">
            <a:avLst>
              <a:gd name="adj" fmla="val 25000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ENTERPRISE SECURITY &amp; WORKFORCE SPECIFICATION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88720" y="1737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VORLDX ATTENDANCE 360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88720" y="25603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Role-Based Access Control (RBAC) &amp; Security 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15-Slide Technical Blueprint for 4-Tier Enterprise Privilege Governance, Dual-Tier WFH Approval, and Dynamic Cryptographic Security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3657600"/>
            <a:ext cx="978408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393192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0690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</a:rPr>
              <a:t>CORPORATE SPONSOR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71600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FAFB"/>
                </a:solidFill>
              </a:rPr>
              <a:t>VorldX Industries Private Limited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4754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CIN: U62099UP2026PTC245598 • Lucknow, UP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0" y="393192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40690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</a:rPr>
              <a:t>TECHNICAL ARCHITECT &amp; SPONSOR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0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FAFB"/>
                </a:solidFill>
              </a:rPr>
              <a:t>CTO: Muba Khan Sir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4754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Chief Technology Officer &amp; System Architect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955280" y="393192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40690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</a:rPr>
              <a:t>SYSTEM INTEGRATOR &amp; DEVELOPER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138160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FAFB"/>
                </a:solidFill>
              </a:rPr>
              <a:t>Shreyash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38160" y="4754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Lead Full-Stack Developer • B.Tech CSE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1: SECURITY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RBAC Vision &amp; Core Security Objectives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24160" y="502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2/15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ATTENDANCE 360  |  OFFICENOVA HR PORTAL  |  CTO: MUBA KHAN SIR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46520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INDUSTRIES PVT LTD - LUCKNOW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97480" cy="4754880"/>
          </a:xfrm>
          <a:prstGeom prst="roundRect">
            <a:avLst>
              <a:gd name="adj" fmla="val 3390"/>
            </a:avLst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45920"/>
            <a:ext cx="2240280" cy="457200"/>
          </a:xfrm>
          <a:prstGeom prst="roundRect">
            <a:avLst>
              <a:gd name="adj" fmla="val 20000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PILLAR 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2860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</a:rPr>
              <a:t>Principle of Least Privilege (PoLP)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10896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9CA3AF"/>
                </a:solidFill>
              </a:rPr>
              <a:t>Users operate with the minimum level of access necessary to fulfill their daily duties. Eliminates accidental record modification and ghost payroll generation.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10128" y="1371600"/>
            <a:ext cx="2697480" cy="4754880"/>
          </a:xfrm>
          <a:prstGeom prst="roundRect">
            <a:avLst>
              <a:gd name="adj" fmla="val 3390"/>
            </a:avLst>
          </a:prstGeom>
          <a:solidFill>
            <a:srgbClr val="111827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38728" y="1645920"/>
            <a:ext cx="2240280" cy="457200"/>
          </a:xfrm>
          <a:prstGeom prst="roundRect">
            <a:avLst>
              <a:gd name="adj" fmla="val 20000"/>
            </a:avLst>
          </a:prstGeom>
          <a:solidFill>
            <a:srgbClr val="1F2937"/>
          </a:solidFill>
          <a:ln/>
        </p:spPr>
      </p:sp>
      <p:sp>
        <p:nvSpPr>
          <p:cNvPr id="16" name="Text 14"/>
          <p:cNvSpPr/>
          <p:nvPr/>
        </p:nvSpPr>
        <p:spPr>
          <a:xfrm>
            <a:off x="3538728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PILLAR 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38728" y="22860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</a:rPr>
              <a:t>Zero-Trust Cryptographic Identity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38728" y="310896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9CA3AF"/>
                </a:solidFill>
              </a:rPr>
              <a:t>No device, user, or IP address is trusted implicitly. Dynamic 45-second rotating QR tokens and device binding ensure authentic physical presence.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63056" y="1371600"/>
            <a:ext cx="2697480" cy="4754880"/>
          </a:xfrm>
          <a:prstGeom prst="roundRect">
            <a:avLst>
              <a:gd name="adj" fmla="val 3390"/>
            </a:avLst>
          </a:prstGeom>
          <a:solidFill>
            <a:srgbClr val="11182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1656" y="1645920"/>
            <a:ext cx="2240280" cy="457200"/>
          </a:xfrm>
          <a:prstGeom prst="roundRect">
            <a:avLst>
              <a:gd name="adj" fmla="val 20000"/>
            </a:avLst>
          </a:prstGeom>
          <a:solidFill>
            <a:srgbClr val="1F2937"/>
          </a:solidFill>
          <a:ln/>
        </p:spPr>
      </p:sp>
      <p:sp>
        <p:nvSpPr>
          <p:cNvPr id="21" name="Text 19"/>
          <p:cNvSpPr/>
          <p:nvPr/>
        </p:nvSpPr>
        <p:spPr>
          <a:xfrm>
            <a:off x="6391656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PILLAR 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91656" y="22860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</a:rPr>
              <a:t>Dual-Tier Separation of Duties (SoD)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91656" y="310896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9CA3AF"/>
                </a:solidFill>
              </a:rPr>
              <a:t>Prevents conflict of interest. HR Managers cannot approve their own WFH or attendance corrections; requests automatically escalate to the Super Admin/CTO.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15984" y="1371600"/>
            <a:ext cx="2697480" cy="4754880"/>
          </a:xfrm>
          <a:prstGeom prst="roundRect">
            <a:avLst>
              <a:gd name="adj" fmla="val 3390"/>
            </a:avLst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44584" y="1645920"/>
            <a:ext cx="2240280" cy="457200"/>
          </a:xfrm>
          <a:prstGeom prst="roundRect">
            <a:avLst>
              <a:gd name="adj" fmla="val 20000"/>
            </a:avLst>
          </a:prstGeom>
          <a:solidFill>
            <a:srgbClr val="1F2937"/>
          </a:solidFill>
          <a:ln/>
        </p:spPr>
      </p:sp>
      <p:sp>
        <p:nvSpPr>
          <p:cNvPr id="26" name="Text 24"/>
          <p:cNvSpPr/>
          <p:nvPr/>
        </p:nvSpPr>
        <p:spPr>
          <a:xfrm>
            <a:off x="9244584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PILLAR 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244584" y="22860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</a:rPr>
              <a:t>Immutable Regulatory Compliance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244584" y="310896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9CA3AF"/>
                </a:solidFill>
              </a:rPr>
              <a:t>Maintains comprehensive audit logs aligned with ISO/IEC 27001, SOC-2, and Indian DPDP Act standards for legal and corporate payroll auditing.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2: USER HIERARCHY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Role-Based Access Control (RBAC) Persona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24160" y="502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3/15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ATTENDANCE 360  |  OFFICENOVA HR PORTAL  |  CTO: MUBA KHAN SIR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46520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INDUSTRIES PVT LTD - LUCKNOW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46304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1E1B4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TIER 1 (SUPER PRIVILEGED)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1828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Super Admin / CTO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</a:rPr>
              <a:t>Global Organization, Infrastructure, All Modules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83280" y="14173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• Full administrative oversight across company databases
</a:t>
            </a:r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• Multi-office kiosk provisioning &amp; master QR secret keys
</a:t>
            </a:r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• Executive approval queue for HR Manager WFH requests
</a:t>
            </a:r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• Immutable system security logs &amp; budget management
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69748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1E1B4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</a:rPr>
              <a:t>TIER 2 (MANAGEMENT PRIVILEGED)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4008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HR Manager / People Ops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</a:rPr>
              <a:t>16 HR Modules, Employee Directory, Payroll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83280" y="265176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• Complete workforce directory, profiling &amp; status management
</a:t>
            </a:r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• Manual punch regularization &amp; biometric anomaly resolution
</a:t>
            </a:r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• Staff leave &amp; WFH request review &amp; approval processing
</a:t>
            </a:r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• One-click monthly payroll batch calculation &amp; slip release
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93192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1E1B4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TIER 3 (OPERATIONAL PRIVILEGED)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40080" y="4297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Department Head / Lead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617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</a:rPr>
              <a:t>Departmental Scope (Engineering, Sales, etc.)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83280" y="38862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• Team attendance tracking &amp; daily on-duty headcount
</a:t>
            </a:r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• Shift schedule planning &amp; rotational roster management
</a:t>
            </a:r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• First-line review for departmental leave &amp; WFH applications
</a:t>
            </a:r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• Quarterly KPI objective evaluations &amp; progress reports
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502920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51663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1E1B4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166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TIER 4 (BASIC PRIVILEGED)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40080" y="5532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General Employee / Staff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5852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</a:rPr>
              <a:t>Own Data Only (Confidential Isolation)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383280" y="51206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• Dynamic QR scanning for instantaneous Punch In / Punch Out
</a:t>
            </a:r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• Persistent check-in badge &amp; monthly calendar attendance log
</a:t>
            </a:r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• Self-service Leave &amp; WFH application submission
</a:t>
            </a:r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• Confidential salary slip PDF download &amp; Helpdesk tickets
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3: PRIVILEGE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1: Super Admin / CTO Deep Dive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24160" y="502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4/15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ATTENDANCE 360  |  OFFICENOVA HR PORTAL  |  CTO: MUBA KHAN SIR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46520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INDUSTRIES PVT LTD - LUCKNOW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111827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EXECUTIVE ARCHITECT PROFILE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CTO: Muba Khan Sir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Chief Technology Officer &amp; System Architect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VorldX Industries Private Limited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310896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004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GOVERNANCE PROFILE ATTRIBUTES: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✔  Access Level: Root System Administrator (Tier 1)
✔  Authentication: Multi-Factor SSO + Master Credential
✔  Session Timeout: 15 Minutes Inactivity Shield
✔  Scope: Global Infrastructure &amp; Multi-Branch Kiosks
✔  Audit Tracking: Direct Hardware Event Journaling
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97680" y="1371600"/>
            <a:ext cx="7434072" cy="4754880"/>
          </a:xfrm>
          <a:prstGeom prst="roundRect">
            <a:avLst>
              <a:gd name="adj" fmla="val 192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645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EXCLUSIVE ADMINISTRATIVE CAPABILITIES &amp; WORKFLOWS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011680"/>
            <a:ext cx="6885432" cy="868680"/>
          </a:xfrm>
          <a:prstGeom prst="roundRect">
            <a:avLst>
              <a:gd name="adj" fmla="val 8421"/>
            </a:avLst>
          </a:prstGeom>
          <a:solidFill>
            <a:srgbClr val="0D15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103120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1. Multi-Office Kiosk &amp; Hardware Provisioning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35915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Provision entrance kiosk displays, generate cryptographic salt keys, configure 45-second refresh frequency, and monitor hardware heartbeat.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2971800"/>
            <a:ext cx="6885432" cy="868680"/>
          </a:xfrm>
          <a:prstGeom prst="roundRect">
            <a:avLst>
              <a:gd name="adj" fmla="val 8421"/>
            </a:avLst>
          </a:prstGeom>
          <a:solidFill>
            <a:srgbClr val="0D15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063240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2. Executive WFH Escalation Queue (Zero Conflict of Interest)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31927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Dedicated review queue where HR Manager remote work applications land. Guarantees organizational checks and balances.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3931920"/>
            <a:ext cx="6885432" cy="868680"/>
          </a:xfrm>
          <a:prstGeom prst="roundRect">
            <a:avLst>
              <a:gd name="adj" fmla="val 8421"/>
            </a:avLst>
          </a:prstGeom>
          <a:solidFill>
            <a:srgbClr val="0D15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4023360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3. Master Relational Database &amp; Failover Administration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27939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Govern Microsoft SQL Server 2022 enterprise schema, database failover triggers, SQLite WAL offline caching, and seed scripts.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4892040"/>
            <a:ext cx="6885432" cy="868680"/>
          </a:xfrm>
          <a:prstGeom prst="roundRect">
            <a:avLst>
              <a:gd name="adj" fmla="val 8421"/>
            </a:avLst>
          </a:prstGeom>
          <a:solidFill>
            <a:srgbClr val="0D15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4983480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4. Enterprise Audit Trail &amp; Forensic Security Log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523951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Access immutable logs recording every punch override, role elevation, salary slip export, and security token invalidation.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4: PEOPLE OPERATIONS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2: HR Manager / OfficeNova Administration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24160" y="502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5/15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ATTENDANCE 360  |  OFFICENOVA HR PORTAL  |  CTO: MUBA KHAN SIR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46520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INDUSTRIES PVT LTD - LUCKNOW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1274552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08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OFFICENOVA HR MANAGEMENT SUITE (16 INTEGRATED MODULES)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83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</a:rPr>
              <a:t>HR Managers possess comprehensive administrative jurisdiction over workforce records, attendance regularization, staff leave queues, and monthly payroll computation.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9748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MODULES 1 &amp; 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Workforce Lifecycle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233172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7472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F9FAFB"/>
                </a:solidFill>
              </a:rPr>
              <a:t>•  HR Executive Dashboard real-time KPIs
•  Staff onboarding &amp; profile management
•  Designations, departments &amp; shift mapping
•  Employee termination &amp; offboarding logs
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10128" y="256032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269748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MODULES 3, 4 &amp; 5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93008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Attendance Governance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93008" y="3337560"/>
            <a:ext cx="233172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347472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F9FAFB"/>
                </a:solidFill>
              </a:rPr>
              <a:t>•  Daily punch monitoring &amp; biometric flags
•  Manual punch regularization approval
•  Leave balance allocation &amp; entitlement
•  Staff WFH application review &amp; approval
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63056" y="256032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269748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MODULES 10, 11 &amp; 13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345936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Payroll &amp; Compliance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45936" y="3337560"/>
            <a:ext cx="233172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347472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F9FAFB"/>
                </a:solidFill>
              </a:rPr>
              <a:t>•  Automated Net Salary = Basic + Allow - Ded
•  One-click PDF payslip batch generator
•  Company policy repository &amp; NDA vaults
•  Clustered department attendance analytics
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015984" y="256032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98864" y="269748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MODULES 7, 8, 9 &amp; 12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198864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Operations &amp; Talent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98864" y="3337560"/>
            <a:ext cx="233172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98864" y="347472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F9FAFB"/>
                </a:solidFill>
              </a:rPr>
              <a:t>•  Recruitment pipeline &amp; candidate stage
•  Quarterly KPI reviews &amp; OKR tracking
•  Corporate training curricula &amp; enrollments
•  Broadcast company notices &amp; bulletins
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5: OPERATIONAL OVERSIGHT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3: Department Head / Team Lead Deep Dive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24160" y="502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6/15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ATTENDANCE 360  |  OFFICENOVA HR PORTAL  |  CTO: MUBA KHAN SIR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46520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INDUSTRIES PVT LTD - LUCKNOW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DEPARTMENTAL SCOPE &amp; BOUNDARIES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Strict Departmental Isolation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423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Department Heads (e.g. Engineering Lead, Marketing Director) have operational oversight strictly limited to employees mapped to their department ID.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4754880" cy="777240"/>
          </a:xfrm>
          <a:prstGeom prst="roundRect">
            <a:avLst>
              <a:gd name="adj" fmla="val 5882"/>
            </a:avLst>
          </a:prstGeom>
          <a:solidFill>
            <a:srgbClr val="0D152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004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Visible Data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3429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Team attendance, daily punch logs, shift schedules, OKRs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4754880" cy="777240"/>
          </a:xfrm>
          <a:prstGeom prst="roundRect">
            <a:avLst>
              <a:gd name="adj" fmla="val 5882"/>
            </a:avLst>
          </a:prstGeom>
          <a:solidFill>
            <a:srgbClr val="0D152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148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Hidden Data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4343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Confidential salary details, bank info, other departments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20" y="4937760"/>
            <a:ext cx="4754880" cy="777240"/>
          </a:xfrm>
          <a:prstGeom prst="roundRect">
            <a:avLst>
              <a:gd name="adj" fmla="val 5882"/>
            </a:avLst>
          </a:prstGeom>
          <a:solidFill>
            <a:srgbClr val="0D1527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292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Approval Level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4400" y="5257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Tier-1 Recommendation (Passes to HR for payroll sign-off)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35040" y="1371600"/>
            <a:ext cx="5696712" cy="4754880"/>
          </a:xfrm>
          <a:prstGeom prst="roundRect">
            <a:avLst>
              <a:gd name="adj" fmla="val 192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645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</a:rPr>
              <a:t>CORE WORKFLOWS MANAGED BY DEPARTMENT HEADS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2057400"/>
            <a:ext cx="5148072" cy="868680"/>
          </a:xfrm>
          <a:prstGeom prst="roundRect">
            <a:avLst>
              <a:gd name="adj" fmla="val 8421"/>
            </a:avLst>
          </a:prstGeom>
          <a:solidFill>
            <a:srgbClr val="0D1527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21488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Shift Rostering &amp; Rotational Planning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24048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Assign team members to General (09:00 - 18:00), Morning (07:00 - 16:00), or Evening (14:00 - 23:00) shifts based on project deadlines.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09360" y="3017520"/>
            <a:ext cx="5148072" cy="868680"/>
          </a:xfrm>
          <a:prstGeom prst="roundRect">
            <a:avLst>
              <a:gd name="adj" fmla="val 8421"/>
            </a:avLst>
          </a:prstGeom>
          <a:solidFill>
            <a:srgbClr val="0D1527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1089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Daily Desk Availability Monitoring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92240" y="33649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Real-time dashboard showing who is In-Office, on Work-From-Home (WFH), on Approved Leave, or Late-Marked.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309360" y="3977640"/>
            <a:ext cx="5148072" cy="868680"/>
          </a:xfrm>
          <a:prstGeom prst="roundRect">
            <a:avLst>
              <a:gd name="adj" fmla="val 8421"/>
            </a:avLst>
          </a:prstGeom>
          <a:solidFill>
            <a:srgbClr val="0D1527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40690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Performance &amp; KPI Reviews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92240" y="43251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Evaluate team members quarterly against measurable key results (OKRs) and submit appraisal ratings to HR.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309360" y="4937760"/>
            <a:ext cx="5148072" cy="868680"/>
          </a:xfrm>
          <a:prstGeom prst="roundRect">
            <a:avLst>
              <a:gd name="adj" fmla="val 8421"/>
            </a:avLst>
          </a:prstGeom>
          <a:solidFill>
            <a:srgbClr val="0D1527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50292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Escalation &amp; Anomaly Flagging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92240" y="52852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Flag suspicious biometric anomalies or repeated unexcused absences directly to the HR Manager queue.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6: FIELD &amp; STAFF EXPERIENCE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4: General Employee / Mobile APK Self-Service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24160" y="502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7/15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ATTENDANCE 360  |  OFFICENOVA HR PORTAL  |  CTO: MUBA KHAN SIR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46520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INDUSTRIES PVT LTD - LUCKNOW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840480" cy="4754880"/>
          </a:xfrm>
          <a:prstGeom prst="roundRect">
            <a:avLst>
              <a:gd name="adj" fmla="val 2381"/>
            </a:avLst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NATIVE ANDROID APK (CAPACITOR 8)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1.2 MB Ultra-Optimized Mobile Client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514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Engineered with Android Studio Ladybug, Gradle 8.2, and ProGuard R8 code shrinking for instant installation on any staff smartphone.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3291840" cy="566928"/>
          </a:xfrm>
          <a:prstGeom prst="roundRect">
            <a:avLst>
              <a:gd name="adj" fmla="val 8065"/>
            </a:avLst>
          </a:prstGeom>
          <a:solidFill>
            <a:srgbClr val="0D152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27355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</a:rPr>
              <a:t>Download APK Size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68680" y="34564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FAFB"/>
                </a:solidFill>
              </a:rPr>
              <a:t>1.24 MB (Sub-2MB SLA)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858768"/>
            <a:ext cx="3291840" cy="566928"/>
          </a:xfrm>
          <a:prstGeom prst="roundRect">
            <a:avLst>
              <a:gd name="adj" fmla="val 8065"/>
            </a:avLst>
          </a:prstGeom>
          <a:solidFill>
            <a:srgbClr val="0D152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93192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</a:rPr>
              <a:t>QR Scan Latency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68680" y="41148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FAFB"/>
                </a:solidFill>
              </a:rPr>
              <a:t>&lt; 280 ms Hardware Decode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4517136"/>
            <a:ext cx="3291840" cy="566928"/>
          </a:xfrm>
          <a:prstGeom prst="roundRect">
            <a:avLst>
              <a:gd name="adj" fmla="val 8065"/>
            </a:avLst>
          </a:prstGeom>
          <a:solidFill>
            <a:srgbClr val="0D152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59028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</a:rPr>
              <a:t>Offline Punch Storage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68680" y="47731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FAFB"/>
                </a:solidFill>
              </a:rPr>
              <a:t>Persisted in LocalStorage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5175504"/>
            <a:ext cx="3291840" cy="566928"/>
          </a:xfrm>
          <a:prstGeom prst="roundRect">
            <a:avLst>
              <a:gd name="adj" fmla="val 8065"/>
            </a:avLst>
          </a:prstGeom>
          <a:solidFill>
            <a:srgbClr val="0D1527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24865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</a:rPr>
              <a:t>Battery Consumption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68680" y="54315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FAFB"/>
                </a:solidFill>
              </a:rPr>
              <a:t>&lt; 0.3% per 8-hour shift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1371600"/>
            <a:ext cx="7159752" cy="4754880"/>
          </a:xfrm>
          <a:prstGeom prst="roundRect">
            <a:avLst>
              <a:gd name="adj" fmla="val 192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6459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</a:rPr>
              <a:t>EMPLOYEE SELF-SERVICE CAPABILITIES &amp; WORKFLOWS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011680"/>
            <a:ext cx="6611112" cy="868680"/>
          </a:xfrm>
          <a:prstGeom prst="roundRect">
            <a:avLst>
              <a:gd name="adj" fmla="val 8421"/>
            </a:avLst>
          </a:prstGeom>
          <a:solidFill>
            <a:srgbClr val="0D1527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210312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1. Instant Dynamic QR Punch In / Punch Out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0" y="235915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Employee scans the kiosk dynamic QR using their phone camera. The punch timestamp and date badge display immediately and remain permanently visible on the app.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2971800"/>
            <a:ext cx="6611112" cy="868680"/>
          </a:xfrm>
          <a:prstGeom prst="roundRect">
            <a:avLst>
              <a:gd name="adj" fmla="val 8421"/>
            </a:avLst>
          </a:prstGeom>
          <a:solidFill>
            <a:srgbClr val="0D1527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06324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2. Personal Attendance History &amp; Material Calendar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0" y="331927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Color-coded monthly calendar view showing Present (Green), Late (Amber), WFH (Blue), and Leave (Purple) status with working hours tally.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3931920"/>
            <a:ext cx="6611112" cy="868680"/>
          </a:xfrm>
          <a:prstGeom prst="roundRect">
            <a:avLst>
              <a:gd name="adj" fmla="val 8421"/>
            </a:avLst>
          </a:prstGeom>
          <a:solidFill>
            <a:srgbClr val="0D1527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402336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3. Digital Leave &amp; Work-From-Home (WFH) Applications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0" y="427939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Apply for medical/casual leave or remote work with reasons and date pickers. Track review status (Pending, Approved, Rejected) in real time.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46320" y="4892040"/>
            <a:ext cx="6611112" cy="868680"/>
          </a:xfrm>
          <a:prstGeom prst="roundRect">
            <a:avLst>
              <a:gd name="adj" fmla="val 8421"/>
            </a:avLst>
          </a:prstGeom>
          <a:solidFill>
            <a:srgbClr val="0D1527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49834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4. Confidential Salary Slip PDF Download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0" y="523951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Access verified monthly payslips with detailed breakdown of Basic Pay, Allowances, PF/TDS deductions, and Net Salary without visiting HR.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MACHINE &amp; HARDWARE 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Agent: Autonomous Dynamic QR Kiosk Terminal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24160" y="502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8/15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ATTENDANCE 360  |  OFFICENOVA HR PORTAL  |  CTO: MUBA KHAN SIR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46520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INDUSTRIES PVT LTD - LUCKNOW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97480" cy="4754880"/>
          </a:xfrm>
          <a:prstGeom prst="roundRect">
            <a:avLst>
              <a:gd name="adj" fmla="val 2712"/>
            </a:avLst>
          </a:prstGeom>
          <a:solidFill>
            <a:srgbClr val="111827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45920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6459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SECURITY PROTOCOL 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22402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Cryptographic HMAC Token Rotation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063240"/>
            <a:ext cx="2240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Generates a time-synchronized SHA-256 HMAC token that expires precisely every 45 seconds. Makes photo sharing and proxy punching impossible.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10128" y="1371600"/>
            <a:ext cx="2697480" cy="4754880"/>
          </a:xfrm>
          <a:prstGeom prst="roundRect">
            <a:avLst>
              <a:gd name="adj" fmla="val 2712"/>
            </a:avLst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38728" y="1645920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1F2937"/>
          </a:solidFill>
          <a:ln/>
        </p:spPr>
      </p:sp>
      <p:sp>
        <p:nvSpPr>
          <p:cNvPr id="16" name="Text 14"/>
          <p:cNvSpPr/>
          <p:nvPr/>
        </p:nvSpPr>
        <p:spPr>
          <a:xfrm>
            <a:off x="3538728" y="16459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</a:rPr>
              <a:t>SECURITY PROTOCOL 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38728" y="22402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 Circular Countdown Meter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38728" y="3063240"/>
            <a:ext cx="2240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Real-time countdown display with radial progress indicator giving employees visual cue before token rotates to the next cryptographic state.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63056" y="1371600"/>
            <a:ext cx="2697480" cy="4754880"/>
          </a:xfrm>
          <a:prstGeom prst="roundRect">
            <a:avLst>
              <a:gd name="adj" fmla="val 2712"/>
            </a:avLst>
          </a:prstGeom>
          <a:solidFill>
            <a:srgbClr val="11182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1656" y="1645920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1F2937"/>
          </a:solidFill>
          <a:ln/>
        </p:spPr>
      </p:sp>
      <p:sp>
        <p:nvSpPr>
          <p:cNvPr id="21" name="Text 19"/>
          <p:cNvSpPr/>
          <p:nvPr/>
        </p:nvSpPr>
        <p:spPr>
          <a:xfrm>
            <a:off x="6391656" y="16459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SECURITY PROTOCOL 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91656" y="22402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Zero-Credential Local Storage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91656" y="3063240"/>
            <a:ext cx="2240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The kiosk terminal stores zero employee passwords or biometrics. Pure display projection node — even physical kiosk theft reveals zero user data.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015984" y="1371600"/>
            <a:ext cx="2697480" cy="4754880"/>
          </a:xfrm>
          <a:prstGeom prst="roundRect">
            <a:avLst>
              <a:gd name="adj" fmla="val 2712"/>
            </a:avLst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44584" y="1645920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1F2937"/>
          </a:solidFill>
          <a:ln/>
        </p:spPr>
      </p:sp>
      <p:sp>
        <p:nvSpPr>
          <p:cNvPr id="26" name="Text 24"/>
          <p:cNvSpPr/>
          <p:nvPr/>
        </p:nvSpPr>
        <p:spPr>
          <a:xfrm>
            <a:off x="9244584" y="16459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SECURITY PROTOCOL 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244584" y="22402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Autonomous Offline Recovery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44584" y="3063240"/>
            <a:ext cx="2240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If corporate internet drops temporarily, the kiosk continues generating synchronized tokens based on its local hardware RTC clock.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8: PROCESS GOVERNANCE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Dual-Tier Hierarchical WFH &amp; Leave Approval Workflow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24160" y="502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9/15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ATTENDANCE 360  |  OFFICENOVA HR PORTAL  |  CTO: MUBA KHAN SIR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46520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INDUSTRIES PVT LTD - LUCKNOW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1274552" cy="2240280"/>
          </a:xfrm>
          <a:prstGeom prst="roundRect">
            <a:avLst>
              <a:gd name="adj" fmla="val 4082"/>
            </a:avLst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08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FLOW A: GENERAL EMPLOYEE WORK-FROM-HOME (WFH) APPLICATION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1874520"/>
            <a:ext cx="2514600" cy="1508760"/>
          </a:xfrm>
          <a:prstGeom prst="roundRect">
            <a:avLst>
              <a:gd name="adj" fmla="val 3030"/>
            </a:avLst>
          </a:prstGeom>
          <a:solidFill>
            <a:srgbClr val="0D152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9659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1. Application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1945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Employee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68680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Applies via Mobile APK with date &amp; justification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29000" y="1874520"/>
            <a:ext cx="2514600" cy="1508760"/>
          </a:xfrm>
          <a:prstGeom prst="roundRect">
            <a:avLst>
              <a:gd name="adj" fmla="val 3030"/>
            </a:avLst>
          </a:prstGeom>
          <a:solidFill>
            <a:srgbClr val="0D1527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19659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2. Review Queue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0" y="21945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HR Manager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66160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Lands in OfficeNova HR Portal Module 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26480" y="1874520"/>
            <a:ext cx="2514600" cy="1508760"/>
          </a:xfrm>
          <a:prstGeom prst="roundRect">
            <a:avLst>
              <a:gd name="adj" fmla="val 3030"/>
            </a:avLst>
          </a:prstGeom>
          <a:solidFill>
            <a:srgbClr val="0D1527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9659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3. Adjudication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21945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HR Action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63640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Approves / Rejects based on leave entitlement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823960" y="1874520"/>
            <a:ext cx="2514600" cy="1508760"/>
          </a:xfrm>
          <a:prstGeom prst="roundRect">
            <a:avLst>
              <a:gd name="adj" fmla="val 3030"/>
            </a:avLst>
          </a:prstGeom>
          <a:solidFill>
            <a:srgbClr val="0D1527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0" y="19659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4. Sync &amp; Punch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61120" y="21945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System Output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961120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Attendance marked WFH; pushes push alert to APK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11274552" cy="22860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977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FLOW B: HR MANAGER WFH APPLICATION (AUTOMATIC CTO ESCALATION)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" y="4343400"/>
            <a:ext cx="2514600" cy="1554480"/>
          </a:xfrm>
          <a:prstGeom prst="roundRect">
            <a:avLst>
              <a:gd name="adj" fmla="val 2941"/>
            </a:avLst>
          </a:prstGeom>
          <a:solidFill>
            <a:srgbClr val="0D1527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4348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1. HR Application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8680" y="46634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HR Manager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68680" y="49377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Applies through OfficeNova WFH request portal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29000" y="4343400"/>
            <a:ext cx="2514600" cy="1554480"/>
          </a:xfrm>
          <a:prstGeom prst="roundRect">
            <a:avLst>
              <a:gd name="adj" fmla="val 2941"/>
            </a:avLst>
          </a:prstGeom>
          <a:solidFill>
            <a:srgbClr val="0D1527"/>
          </a:solidFill>
          <a:ln/>
        </p:spPr>
      </p:sp>
      <p:sp>
        <p:nvSpPr>
          <p:cNvPr id="34" name="Text 32"/>
          <p:cNvSpPr/>
          <p:nvPr/>
        </p:nvSpPr>
        <p:spPr>
          <a:xfrm>
            <a:off x="3566160" y="44348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2. Conflict Guard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66160" y="46634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System Rule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66160" y="49377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Self-approval blocked; routed away from HR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126480" y="4343400"/>
            <a:ext cx="2514600" cy="1554480"/>
          </a:xfrm>
          <a:prstGeom prst="roundRect">
            <a:avLst>
              <a:gd name="adj" fmla="val 2941"/>
            </a:avLst>
          </a:prstGeom>
          <a:solidFill>
            <a:srgbClr val="0D1527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44348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3. CTO Queue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63640" y="46634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CTO: Muba Khan Sir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63640" y="49377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Lands in Super Admin Executive Approval Desk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823960" y="4343400"/>
            <a:ext cx="2514600" cy="1554480"/>
          </a:xfrm>
          <a:prstGeom prst="roundRect">
            <a:avLst>
              <a:gd name="adj" fmla="val 2941"/>
            </a:avLst>
          </a:prstGeom>
          <a:solidFill>
            <a:srgbClr val="0D1527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0" y="44348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4. Executive Sign-Off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961120" y="46634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Final Decision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961120" y="49377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Approved / Rejected with immutable audit log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9: ACCESS RIGHTS MATRIX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Role-Based Access Control (RBAC) Permission Matrix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24160" y="502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10/15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ATTENDANCE 360  |  OFFICENOVA HR PORTAL  |  CTO: MUBA KHAN SIR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46520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INDUSTRIES PVT LTD - LUCKNOW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4754880"/>
        </p:xfrm>
        <a:graphic>
          <a:graphicData uri="http://schemas.openxmlformats.org/drawingml/2006/table">
            <a:tbl>
              <a:tblPr/>
              <a:tblGrid>
                <a:gridCol w="3044952"/>
                <a:gridCol w="2057400"/>
                <a:gridCol w="2057400"/>
                <a:gridCol w="2057400"/>
                <a:gridCol w="20574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System Resource / Entity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</a:rPr>
                        <a:t>Super Admin / CTO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6366F1"/>
                          </a:solidFill>
                        </a:rPr>
                        <a:t>HR Manager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Department Head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General Employee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Employee Profiles &amp; Onboarding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Full (CRUD)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Full (CRUD)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Read Only (Team)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Read Own Only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Daily Attendance &amp; Punch Logs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Full Access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Full (Regularize)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Read Team Logs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Create (Scan) / Read Own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Staff Leave &amp; WFH Requests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Approve / Override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Approve / Reject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Review &amp; Recommend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Create / Read Own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HR Manager WFH Requests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Sole Approver (CTO)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Create Only (No Self-Approve)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No Access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No Access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Payroll Calculation &amp; Slips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Audit &amp; Approve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Generate &amp; Manage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No Access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Read Own Payslip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Company Policies &amp; Handbooks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Publish &amp; Revoke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Upload &amp; Manage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Read Only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Read &amp; Download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Broadcast Bulletins &amp; Notices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Global Broadcast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Create &amp; Publish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Department Notices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Read Only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Hardware Kiosks &amp; Secret Keys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Full Provisioning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Monitor Health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No Access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No Access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Immutable Security Audit Logs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Full Forensic Access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HR Audit Logs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No Access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9FAFB"/>
                          </a:solidFill>
                        </a:rPr>
                        <a:t>No Access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10: DATA ISOLATION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Privacy, Row-Level &amp; Field-Level Access Control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24160" y="502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11/15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ATTENDANCE 360  |  OFFICENOVA HR PORTAL  |  CTO: MUBA KHAN SIR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46520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INDUSTRIES PVT LTD - LUCKNOW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639312" cy="4754880"/>
          </a:xfrm>
          <a:prstGeom prst="roundRect">
            <a:avLst>
              <a:gd name="adj" fmla="val 2513"/>
            </a:avLst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HORIZONTAL ISOLATION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Row-Level Security (RLS)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Database queries enforce WHERE clauses dynamically based on caller role. An employee querying attendance only retrieves rows matching their employee_id.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310896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404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SECURITY IMPLEMENTATION: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F9FAFB"/>
                </a:solidFill>
              </a:rPr>
              <a:t>✔  Employee: WHERE emp_id = :sessionEmpId
✔  Dept Head: WHERE dept_id = :sessionDeptId
✔  HR / CTO: Global UNFILTERED access
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79392" y="1371600"/>
            <a:ext cx="3639312" cy="4754880"/>
          </a:xfrm>
          <a:prstGeom prst="roundRect">
            <a:avLst>
              <a:gd name="adj" fmla="val 2513"/>
            </a:avLst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6459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VERTICAL FIELD MASKING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53712" y="1920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Column-Level Security (CLS)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53712" y="25603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Sensitive financial and PII columns are stripped at the API Gateway layer before serializing JSON responses to non-HR roles.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53712" y="3657600"/>
            <a:ext cx="310896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38404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SECURITY IMPLEMENTATION: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53712" y="411480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F9FAFB"/>
                </a:solidFill>
              </a:rPr>
              <a:t>✔  Basic Salary, PF &amp; Net Pay hidden from peers
✔  Aadhaar / PAN masked with SHA-256 salt
✔  Personal medical notes hidden from Leads
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101584" y="1371600"/>
            <a:ext cx="3639312" cy="4754880"/>
          </a:xfrm>
          <a:prstGeom prst="roundRect">
            <a:avLst>
              <a:gd name="adj" fmla="val 2513"/>
            </a:avLst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5904" y="16459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DATABASE ENCRYPTION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375904" y="1920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Cryptographic Storage &amp; Salting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75904" y="25603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Passwords hashed with bcrypt (cost factor 12). QR kiosk seeds encrypted with AES-256-GCM. Hardware tamper tokens verified on each punch.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375904" y="3657600"/>
            <a:ext cx="310896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75904" y="38404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SECURITY IMPLEMENTATION: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75904" y="411480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F9FAFB"/>
                </a:solidFill>
              </a:rPr>
              <a:t>✔  Zero plaintext password retention
✔  Dynamic rotating HMAC keys
✔  SQL injection sanitized parameterized queries
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11: CRYPTOGRAPHIC AUTHENTICATION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Role-Aware JWT Token Lifecycle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24160" y="502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12/15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ATTENDANCE 360  |  OFFICENOVA HR PORTAL  |  CTO: MUBA KHAN SIR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46520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INDUSTRIES PVT LTD - LUCKNOW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97480" cy="4754880"/>
          </a:xfrm>
          <a:prstGeom prst="roundRect">
            <a:avLst>
              <a:gd name="adj" fmla="val 2712"/>
            </a:avLst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45920"/>
            <a:ext cx="2240280" cy="365760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645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</a:rPr>
              <a:t>PHASE 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Role-Based Authentication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017520"/>
            <a:ext cx="2240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User logs in via Employee ID / HR Email / Admin SSO. Server verifies credentials, queries role hierarchy, and issues signed JWT.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10128" y="1371600"/>
            <a:ext cx="2697480" cy="4754880"/>
          </a:xfrm>
          <a:prstGeom prst="roundRect">
            <a:avLst>
              <a:gd name="adj" fmla="val 2712"/>
            </a:avLst>
          </a:prstGeom>
          <a:solidFill>
            <a:srgbClr val="111827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38728" y="1645920"/>
            <a:ext cx="2240280" cy="365760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/>
        </p:spPr>
      </p:sp>
      <p:sp>
        <p:nvSpPr>
          <p:cNvPr id="16" name="Text 14"/>
          <p:cNvSpPr/>
          <p:nvPr/>
        </p:nvSpPr>
        <p:spPr>
          <a:xfrm>
            <a:off x="3538728" y="1645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PHASE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38728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Token Payload Signing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38728" y="3017520"/>
            <a:ext cx="2240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JWT payload embeds { empId, role, deptId, permissions, exp }. Signed using SHA-256 HMAC with secret rotation every 24 hours.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63056" y="1371600"/>
            <a:ext cx="2697480" cy="4754880"/>
          </a:xfrm>
          <a:prstGeom prst="roundRect">
            <a:avLst>
              <a:gd name="adj" fmla="val 2712"/>
            </a:avLst>
          </a:prstGeom>
          <a:solidFill>
            <a:srgbClr val="11182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1656" y="1645920"/>
            <a:ext cx="2240280" cy="365760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/>
        </p:spPr>
      </p:sp>
      <p:sp>
        <p:nvSpPr>
          <p:cNvPr id="21" name="Text 19"/>
          <p:cNvSpPr/>
          <p:nvPr/>
        </p:nvSpPr>
        <p:spPr>
          <a:xfrm>
            <a:off x="6391656" y="1645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PHASE 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91656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Middleware Route Guards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91656" y="3017520"/>
            <a:ext cx="2240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Express.js middleware `requireRole(["admin", "hr"])` inspects JWT header before routing request to sensitive HR/Admin endpoints.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015984" y="1371600"/>
            <a:ext cx="2697480" cy="4754880"/>
          </a:xfrm>
          <a:prstGeom prst="roundRect">
            <a:avLst>
              <a:gd name="adj" fmla="val 2712"/>
            </a:avLst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44584" y="1645920"/>
            <a:ext cx="2240280" cy="365760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/>
        </p:spPr>
      </p:sp>
      <p:sp>
        <p:nvSpPr>
          <p:cNvPr id="26" name="Text 24"/>
          <p:cNvSpPr/>
          <p:nvPr/>
        </p:nvSpPr>
        <p:spPr>
          <a:xfrm>
            <a:off x="9244584" y="1645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PHASE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244584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Rolling Expiration &amp; Revocation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44584" y="3017520"/>
            <a:ext cx="2240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15-minute access token lifespan. Refresh tokens stored in HttpOnly secure cookies. Immediate revocation upon password change or logout.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12: FORENSIC AUDITING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 &amp; Regulatory Compliance Framework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24160" y="502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13/15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ATTENDANCE 360  |  OFFICENOVA HR PORTAL  |  CTO: MUBA KHAN SIR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46520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INDUSTRIES PVT LTD - LUCKNOW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FORENSIC AUDIT RECORD SCHEMA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057400"/>
            <a:ext cx="4937760" cy="566928"/>
          </a:xfrm>
          <a:prstGeom prst="roundRect">
            <a:avLst>
              <a:gd name="adj" fmla="val 8065"/>
            </a:avLst>
          </a:prstGeom>
          <a:solidFill>
            <a:srgbClr val="0D152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13055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</a:rPr>
              <a:t>Audit ID &amp; Timestamp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23134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High-precision microsecond UTC timestamp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2715768"/>
            <a:ext cx="4937760" cy="566928"/>
          </a:xfrm>
          <a:prstGeom prst="roundRect">
            <a:avLst>
              <a:gd name="adj" fmla="val 8065"/>
            </a:avLst>
          </a:prstGeom>
          <a:solidFill>
            <a:srgbClr val="0D152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7889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</a:rPr>
              <a:t>Actor Identity &amp; Role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29718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User ID, Email, Role, Department ID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0" y="3374136"/>
            <a:ext cx="4937760" cy="566928"/>
          </a:xfrm>
          <a:prstGeom prst="roundRect">
            <a:avLst>
              <a:gd name="adj" fmla="val 8065"/>
            </a:avLst>
          </a:prstGeom>
          <a:solidFill>
            <a:srgbClr val="0D152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44728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</a:rPr>
              <a:t>Action Type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3630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PUNCH_CREATE, LEAVE_APPROVE, WFH_ESCALATE, PAYROLL_RUN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4032504"/>
            <a:ext cx="4937760" cy="566928"/>
          </a:xfrm>
          <a:prstGeom prst="roundRect">
            <a:avLst>
              <a:gd name="adj" fmla="val 8065"/>
            </a:avLst>
          </a:prstGeom>
          <a:solidFill>
            <a:srgbClr val="0D152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0565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</a:rPr>
              <a:t>IP Address &amp; Location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14400" y="428853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Client public IP, geofence coordinates, network ISP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4690872"/>
            <a:ext cx="4937760" cy="566928"/>
          </a:xfrm>
          <a:prstGeom prst="roundRect">
            <a:avLst>
              <a:gd name="adj" fmla="val 8065"/>
            </a:avLst>
          </a:prstGeom>
          <a:solidFill>
            <a:srgbClr val="0D1527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76402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</a:rPr>
              <a:t>Device Fingerprint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14400" y="49469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Capacitor Android hardware ID &amp; browser agent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5349240"/>
            <a:ext cx="4937760" cy="566928"/>
          </a:xfrm>
          <a:prstGeom prst="roundRect">
            <a:avLst>
              <a:gd name="adj" fmla="val 8065"/>
            </a:avLst>
          </a:prstGeom>
          <a:solidFill>
            <a:srgbClr val="0D1527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422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</a:rPr>
              <a:t>Before / After Delta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14400" y="56052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JSON payload capturing changed record values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17920" y="1371600"/>
            <a:ext cx="5513832" cy="4754880"/>
          </a:xfrm>
          <a:prstGeom prst="roundRect">
            <a:avLst>
              <a:gd name="adj" fmla="val 1923"/>
            </a:avLst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STANDARDS &amp; REGULATORY COMPLIANCE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92240" y="2057400"/>
            <a:ext cx="4965192" cy="868680"/>
          </a:xfrm>
          <a:prstGeom prst="roundRect">
            <a:avLst>
              <a:gd name="adj" fmla="val 8421"/>
            </a:avLst>
          </a:prstGeom>
          <a:solidFill>
            <a:srgbClr val="0D1527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21488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ISO/IEC 27001:2022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675120" y="24048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Strict controls on user access management (A.9.2), privilege allocation (A.9.2.3), and event logging (A.12.4).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92240" y="3017520"/>
            <a:ext cx="4965192" cy="868680"/>
          </a:xfrm>
          <a:prstGeom prst="roundRect">
            <a:avLst>
              <a:gd name="adj" fmla="val 8421"/>
            </a:avLst>
          </a:prstGeom>
          <a:solidFill>
            <a:srgbClr val="0D1527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3108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SOC-2 Type II Trust Principles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675120" y="33649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Security, availability, and confidentiality verified through continuous logging and dual-custody approval workflows.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92240" y="3977640"/>
            <a:ext cx="4965192" cy="868680"/>
          </a:xfrm>
          <a:prstGeom prst="roundRect">
            <a:avLst>
              <a:gd name="adj" fmla="val 8421"/>
            </a:avLst>
          </a:prstGeom>
          <a:solidFill>
            <a:srgbClr val="0D1527"/>
          </a:solidFill>
          <a:ln/>
        </p:spPr>
      </p:sp>
      <p:sp>
        <p:nvSpPr>
          <p:cNvPr id="38" name="Text 36"/>
          <p:cNvSpPr/>
          <p:nvPr/>
        </p:nvSpPr>
        <p:spPr>
          <a:xfrm>
            <a:off x="6675120" y="4069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Indian DPDP Act 2023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675120" y="4325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Employee biometric and location data processed lawfully with informed consent, localized storage, and privacy shielding.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92240" y="4937760"/>
            <a:ext cx="4965192" cy="868680"/>
          </a:xfrm>
          <a:prstGeom prst="roundRect">
            <a:avLst>
              <a:gd name="adj" fmla="val 8421"/>
            </a:avLst>
          </a:prstGeom>
          <a:solidFill>
            <a:srgbClr val="0D1527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5029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Statutory Labor Laws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75120" y="5285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Exact working hour logs and overtime records comply with Indian Factories &amp; Commercial Establishment Acts.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13: THREAT MODELING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Threat Scenarios &amp; RBAC Defense Mitigations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24160" y="502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14/15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ATTENDANCE 360  |  OFFICENOVA HR PORTAL  |  CTO: MUBA KHAN SIR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46520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INDUSTRIES PVT LTD - LUCKNOW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3560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Threat 1: Buddy Punching / Photo Sharing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509760" y="146304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064E3B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BLOCKED (100%)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170992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</a:rPr>
              <a:t>Attack Vector: Employee takes a smartphone picture of the QR kiosk and sends it via WhatsApp to an absent colleague at home.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03911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</a:rPr>
              <a:t>RBAC Defense: Mitigated: The 45-second HMAC token expires before it can be relayed. Reverse geofencing confirms physical presence.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670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Threat 2: HR Self-Approval Conflict of Interest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69748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064E3B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697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BLOCKED (100%)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29443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</a:rPr>
              <a:t>Attack Vector: HR Manager attempts to approve their own Work-From-Home application or mark false attendance days to earn bonus leave.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1520" y="327355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</a:rPr>
              <a:t>RBAC Defense: Mitigated: Dual-tier approval logic automatically reroutes HR applications to the CTO / Super Admin review desk.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044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Threat 3: Unauthorized Salary Snooping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509760" y="393192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064E3B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3931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BLOCKED (100%)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1520" y="4178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</a:rPr>
              <a:t>Attack Vector: A Team Lead or general staff member attempts to inspect colleagues salary slips by calling `/api/payroll` directly.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31520" y="45079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</a:rPr>
              <a:t>RBAC Defense: Mitigated: JWT route guard rejects request with 403 Forbidden. Database Column-Level Security suppresses salary fields.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502920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13892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Threat 4: Session Hijacking &amp; Token Replay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509760" y="516636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064E3B"/>
          </a:solidFill>
          <a:ln/>
        </p:spPr>
      </p:sp>
      <p:sp>
        <p:nvSpPr>
          <p:cNvPr id="30" name="Text 28"/>
          <p:cNvSpPr/>
          <p:nvPr/>
        </p:nvSpPr>
        <p:spPr>
          <a:xfrm>
            <a:off x="9509760" y="5166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BLOCKED (100%)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31520" y="541324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</a:rPr>
              <a:t>Attack Vector: Malicious actor captures an expired attendance request payload and attempts to replay it against the server.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1520" y="57424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</a:rPr>
              <a:t>RBAC Defense: Mitigated: Server validates timestamp freshness (&amp;le;45s) and rejects duplicate punch submissions using idempotency keys.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14: CONCLUSION &amp; SIGN-OFF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Future RBAC Roadmap &amp; Project Approval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24160" y="502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15/15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ATTENDANCE 360  |  OFFICENOVA HR PORTAL  |  CTO: MUBA KHAN SIR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46520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VORLDX INDUSTRIES PVT LTD - LUCKNOW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CORE MILESTONES ACHIEVED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057400"/>
            <a:ext cx="4754880" cy="548640"/>
          </a:xfrm>
          <a:prstGeom prst="roundRect">
            <a:avLst>
              <a:gd name="adj" fmla="val 8333"/>
            </a:avLst>
          </a:prstGeom>
          <a:solidFill>
            <a:srgbClr val="0D152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148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✔  Complete 4-tier Role-Based Access Control matrix operationalized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" y="2697480"/>
            <a:ext cx="4754880" cy="548640"/>
          </a:xfrm>
          <a:prstGeom prst="roundRect">
            <a:avLst>
              <a:gd name="adj" fmla="val 8333"/>
            </a:avLst>
          </a:prstGeom>
          <a:solidFill>
            <a:srgbClr val="0D152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788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✔  Dual-tier WFH approval workflow eliminates self-approval fraud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3337560"/>
            <a:ext cx="4754880" cy="548640"/>
          </a:xfrm>
          <a:prstGeom prst="roundRect">
            <a:avLst>
              <a:gd name="adj" fmla="val 8333"/>
            </a:avLst>
          </a:prstGeom>
          <a:solidFill>
            <a:srgbClr val="0D152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29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✔  45-second dynamic cryptographic QR tokens eradicate buddy punching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4754880" cy="548640"/>
          </a:xfrm>
          <a:prstGeom prst="roundRect">
            <a:avLst>
              <a:gd name="adj" fmla="val 8333"/>
            </a:avLst>
          </a:prstGeom>
          <a:solidFill>
            <a:srgbClr val="0D152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69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✔  16-module OfficeNova HR Portal provides unified workforce governance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20" y="4617720"/>
            <a:ext cx="4754880" cy="548640"/>
          </a:xfrm>
          <a:prstGeom prst="roundRect">
            <a:avLst>
              <a:gd name="adj" fmla="val 8333"/>
            </a:avLst>
          </a:prstGeom>
          <a:solidFill>
            <a:srgbClr val="0D152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709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✔  Native Android APK optimized down to 1.2 MB footprint via ProGuard R8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" y="5257800"/>
            <a:ext cx="4754880" cy="548640"/>
          </a:xfrm>
          <a:prstGeom prst="roundRect">
            <a:avLst>
              <a:gd name="adj" fmla="val 8333"/>
            </a:avLst>
          </a:prstGeom>
          <a:solidFill>
            <a:srgbClr val="0D152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349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</a:rPr>
              <a:t>✔  Dual database engine: Production MSSQL 2022 + Local SQLite 3 WAL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5040" y="1371600"/>
            <a:ext cx="5696712" cy="4754880"/>
          </a:xfrm>
          <a:prstGeom prst="roundRect">
            <a:avLst>
              <a:gd name="adj" fmla="val 1923"/>
            </a:avLst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645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</a:rPr>
              <a:t>FUTURE RBAC ROADMAP &amp; OFFICIAL SIGN-OFF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201168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Attribute-Based Access Control (ABAC): Dynamic contextual trust based on Wi-Fi SSID, device posture, and battery level.
• Edge AI Facial Biometrics: TensorFlow.js face landmark detection during QR scanning for secondary verification.
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09360" y="3200400"/>
            <a:ext cx="512064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38328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PROJECT APPROVAL &amp; EXECUTIVE SIGN-OFF: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365760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F9FAFB"/>
                </a:solidFill>
              </a:rPr>
              <a:t>✔  Corporate Sponsor: VORLDX INDUSTRIES PRIVATE LIMITED (CIN: U62099UP2026PTC245598)
✔  Technical Head: CTO: Muba Khan Sir (Chief Technology Officer &amp; System Architect)
✔  Lead Developer: Shreyash (B.Tech Computer Science &amp; Engineering)
✔  Academic Status: 100% Verified, Built &amp; Production Released (v2.0)
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VORLDX INDUSTRIES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VorldX Attendance 360 - Role-Based Access Control (RBAC) Architecture</dc:title>
  <dc:subject>Enterprise Workforce Governance &amp; RBAC Presentation (15 Slides)</dc:subject>
  <dc:creator>Shreyash - Lead Full-Stack Developer</dc:creator>
  <cp:lastModifiedBy>Shreyash - Lead Full-Stack Developer</cp:lastModifiedBy>
  <cp:revision>1</cp:revision>
  <dcterms:created xsi:type="dcterms:W3CDTF">2026-10-24T12:19:21Z</dcterms:created>
  <dcterms:modified xsi:type="dcterms:W3CDTF">2026-10-24T12:19:21Z</dcterms:modified>
</cp:coreProperties>
</file>